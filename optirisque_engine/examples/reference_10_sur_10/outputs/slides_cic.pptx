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Comité d'investissement — Hydrometal Saurel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DÉPS — MRC Pierre-De Saurel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Dossier : Hydrometal Saurel Inc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Secteur : Metallurgie de precision - composants electrolyseurs et piles a hydrogene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FLI : 2026-008 | FLS : 2026-008B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Run ID : RUN-2026-05-02-1118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Score conseiller : 100/100 — Niveau 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Décision attendue : prêt CIC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Décision attendue du CIC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Recommandation institutionnelle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Recommandation : Favorable - approbation du financement combine FLI 600 000 $ + FLS 500 000 $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Verdict de risque : Modere (cote globale conforme aux parametres FLI/FLS)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Score qualité dossier : 100/100 (référence DÉPS)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Niveau conseiller : 10/10 (cible 10/10)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Décision : prêt CIC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Vote attendu : approbation / report / refus.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Portrait — Hydrometal Saurel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Identification et 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Entreprise : Hydrometal Saurel Inc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Secteur : Metallurgie de precision - composants electrolyseurs et piles a hydrogene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Nature du projet : Acquisition d'une cellule de soudure robotisee TIG/MIG 6 axes pour doubler la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FLI / FLS : 2026-008 / 2026-008B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Carnet de commandes : 4 200 000 $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Profil aligné avec la mission DÉPS.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Montage financier proposé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Sources et montant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Montant demandé : 1 100 000 $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Nature du projet : Acquisition d'une cellule de soudure robotisee TIG/MIG 6 axes pour doubler la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Sources de financement : voir gabarit OptiRisque (section Coûts et sources).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Sommaire du financement proposé : voir section dédiée du dossier.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Endettement post-financement : 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Structure conforme aux paramètres FLI/FLS.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KPI financiers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Indicateurs de viabilité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DSCR : 1.85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Marge brute : 28.5%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Endettement : 52%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Concentration client : 22%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Carnet de commandes : 4 200 000 $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DSCR : 1.85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Indicateurs financiers complets — viabilité documentée.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Analyse des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Cotation par catégorie FTQ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Marché : cote modere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Opérationnel : cote faible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Financier : cote modere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Gouvernance / Management : cote faible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Juridique / Réglementaire : cote faible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Catégories cotées : 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Cotation complète des 5 catégories.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Conditions de décaissement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Préalables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Fournir avant le 30 juin 2026 les etats financiers verifies 2025 avec DSCR minimum 1.50.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Obtenir avant le 15 mai 2026 caution personnelle solidaire minimum 25% du capital prete.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Signer dans les 30 jours convention de garantie 1er rang couvrant minimum 110% du pret.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Deposer avant le 30 juin 2026 plan de tresorerie 12 mois reserve minimum 500 000 $.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Presenter avant le 31 juillet 2026 confirmation IQ et RenoVert minimum 700 000 $.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7 condition(s) listée(s)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Conditions formalisées et SMART.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Suivi post-financement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Cadre et indicateurs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Transmettre dans les 45 jours suivant chaque trimestre les etats financiers intermediaires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Maintenir un DSCR superieur a 1.40 sur la duree du pret avec verification trimestrielle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exigible avant chaque versement de capital.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Maintenir un ratio dette/equite inferieur a 1.80 et une concentration client maximum 35%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par exercice.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10 indicateur(s) de suivi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Cadre de suivi opérationnel.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Recommandation DÉPS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Position institutionnelle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Recommandation : Favorable - approbation du financement combine FLI 600 000 $ + FLS 500 000 $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Score conseiller : 100/100 — niveau 10/10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Qualificatif : référence DÉPS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Points forts : 12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Lacunes :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Décision : prêt CIC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Dossier prêt pour vote CIC.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41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etric"/>
              </a:rPr>
              <a:t>Annexes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057B8"/>
                </a:solidFill>
                <a:latin typeface="Noto Sans"/>
              </a:rPr>
              <a:t>Références et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F2330"/>
                </a:solidFill>
                <a:latin typeface="Noto Sans"/>
              </a:rPr>
              <a:t>• Sections gabarit présentes : 13/13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Alertes d'extraction : 0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Run ID : RUN-2026-05-02-1118</a:t>
            </a:r>
          </a:p>
          <a:p>
            <a:r>
              <a:rPr sz="1600">
                <a:solidFill>
                  <a:srgbClr val="1F2330"/>
                </a:solidFill>
                <a:latin typeface="Noto Sans"/>
              </a:rPr>
              <a:t>• Voir run_report.json et advisor_score.json pour le détail audit-ready.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4415" cy="594360"/>
          </a:xfrm>
          <a:prstGeom prst="roundRect">
            <a:avLst/>
          </a:prstGeom>
          <a:solidFill>
            <a:srgbClr val="00A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400" b="1">
                <a:solidFill>
                  <a:srgbClr val="24135D"/>
                </a:solidFill>
                <a:latin typeface="Metric"/>
              </a:rPr>
              <a:t>KPI — Audit trail : run_report.json (run RUN-2026-05-02-1118)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0057B8"/>
                </a:solidFill>
                <a:latin typeface="Noto Sans"/>
              </a:rPr>
              <a:t>Conclusion CIC : Documentation auditable conservée par le DÉPS.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330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