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Pilotage stratégique du portefeuille FLI / FLS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Performance, gestion des risques et impact économique</a:t>
            </a:r>
          </a:p>
          <a:p>
            <a:r>
              <a:t>DÉPS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Indicateurs clés du portefeuille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743200" cy="1828800"/>
          </a:xfrm>
          <a:prstGeom prst="roundRect">
            <a:avLst/>
          </a:prstGeom>
          <a:solidFill>
            <a:srgbClr val="00AEC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8,4 %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IRR pondéré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828800"/>
            <a:ext cx="2743200" cy="1828800"/>
          </a:xfrm>
          <a:prstGeom prst="roundRect">
            <a:avLst/>
          </a:prstGeom>
          <a:solidFill>
            <a:srgbClr val="00AEC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3,2 %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Taux de défaut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2743200" cy="1828800"/>
          </a:xfrm>
          <a:prstGeom prst="roundRect">
            <a:avLst/>
          </a:prstGeom>
          <a:solidFill>
            <a:srgbClr val="00AEC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2,7x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Effet levier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Structure du portefeuille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Encours : 12,4 M$</a:t>
            </a:r>
          </a:p>
          <a:p>
            <a:r>
              <a:t>86 dossiers actifs</a:t>
            </a:r>
          </a:p>
          <a:p>
            <a:r>
              <a:t>Ticket moyen : 144 000 $</a:t>
            </a:r>
          </a:p>
          <a:p>
            <a:r>
              <a:t>Croissance : +9 %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Répartition sectorielle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Manufacturier : 28 %</a:t>
            </a:r>
          </a:p>
          <a:p>
            <a:r>
              <a:t>Services : 22 %</a:t>
            </a:r>
          </a:p>
          <a:p>
            <a:r>
              <a:t>Commerce : 18 %</a:t>
            </a:r>
          </a:p>
          <a:p>
            <a:r>
              <a:t>Agroalimentaire : 16 %</a:t>
            </a:r>
          </a:p>
          <a:p>
            <a:r>
              <a:t>Construction : 10 %</a:t>
            </a:r>
          </a:p>
          <a:p>
            <a:r>
              <a:t>Autres : 6 %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Profil de risque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Faible : 42 %</a:t>
            </a:r>
          </a:p>
          <a:p>
            <a:r>
              <a:t>Modéré : 38 %</a:t>
            </a:r>
          </a:p>
          <a:p>
            <a:r>
              <a:t>Élevé : 15 %</a:t>
            </a:r>
          </a:p>
          <a:p>
            <a:r>
              <a:t>Critique : 5 %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Performance financière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2023 : 5,2 % / 4,1 % défaut</a:t>
            </a:r>
          </a:p>
          <a:p>
            <a:r>
              <a:t>2024 : 6,0 % / 3,8 %</a:t>
            </a:r>
          </a:p>
          <a:p>
            <a:r>
              <a:t>2025 : 6,1 % / 3,2 %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Impact économique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33,5 M$ générés</a:t>
            </a:r>
          </a:p>
          <a:p>
            <a:r>
              <a:t>Effet levier 2,7x</a:t>
            </a:r>
          </a:p>
          <a:p>
            <a:r>
              <a:t>412 emplois</a:t>
            </a:r>
          </a:p>
          <a:p>
            <a:r>
              <a:t>18 projets relève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Enjeux stratégiques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Pression sectorielle</a:t>
            </a:r>
          </a:p>
          <a:p>
            <a:r>
              <a:t>Hausse des taux</a:t>
            </a:r>
          </a:p>
          <a:p>
            <a:r>
              <a:t>Concentration dossiers</a:t>
            </a:r>
          </a:p>
          <a:p>
            <a:r>
              <a:t>Risque à surveiller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Recommandations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Prioriser projets à forte valeur</a:t>
            </a:r>
          </a:p>
          <a:p>
            <a:r>
              <a:t>Renforcer analyse des risques</a:t>
            </a:r>
          </a:p>
          <a:p>
            <a:r>
              <a:t>Accroître accompagnement</a:t>
            </a:r>
          </a:p>
          <a:p>
            <a:r>
              <a:t>Maintenir diversification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Portefeuille solide</a:t>
            </a:r>
          </a:p>
          <a:p>
            <a:r>
              <a:t>Croissance contrôlée</a:t>
            </a:r>
          </a:p>
          <a:p>
            <a:r>
              <a:t>Impact durable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